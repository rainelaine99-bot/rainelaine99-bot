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0318413" cy="11109325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DM Sans Medium" pitchFamily="2" charset="0"/>
      <p:regular r:id="rId15"/>
      <p:bold r:id="rId16"/>
      <p:italic r:id="rId17"/>
      <p:boldItalic r:id="rId18"/>
    </p:embeddedFont>
    <p:embeddedFont>
      <p:font typeface="Montserrat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93806" y="685800"/>
            <a:ext cx="6271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aca4ab59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6" y="685800"/>
            <a:ext cx="6271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aca4ab59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ab03a48ab1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688" y="685800"/>
            <a:ext cx="62706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ab03a48ab1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140f3a18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a140f3a18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140f3a18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140f3a18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14ed10b27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14ed10b27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14ed10a5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14ed10a5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14ed10a5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14ed10a5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14ed10b27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3807" y="685800"/>
            <a:ext cx="627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14ed10b27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626275" y="0"/>
            <a:ext cx="86916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267225" y="1855350"/>
            <a:ext cx="10308300" cy="73992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107082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8B0"/>
              </a:buClr>
              <a:buSzPts val="9000"/>
              <a:buFont typeface="DM Sans"/>
              <a:buNone/>
              <a:defRPr sz="9000" b="1">
                <a:solidFill>
                  <a:srgbClr val="21A8B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75" y="0"/>
            <a:ext cx="116262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267225" y="1855350"/>
            <a:ext cx="10308300" cy="73992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107082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DM Sans"/>
              <a:buNone/>
              <a:defRPr sz="9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9401225"/>
            <a:ext cx="20318100" cy="17088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301000" y="9874825"/>
            <a:ext cx="1301403" cy="86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1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72999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60096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DM Sans"/>
              <a:buNone/>
              <a:defRPr sz="7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14215"/>
          <a:stretch/>
        </p:blipFill>
        <p:spPr>
          <a:xfrm>
            <a:off x="18063875" y="9357375"/>
            <a:ext cx="1922677" cy="164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2">
  <p:cSld name="BLANK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157926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85215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DM Sans"/>
              <a:buNone/>
              <a:defRPr sz="7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 b="14215"/>
          <a:stretch/>
        </p:blipFill>
        <p:spPr>
          <a:xfrm>
            <a:off x="18063875" y="9357375"/>
            <a:ext cx="1922677" cy="164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3">
  <p:cSld name="BLANK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0" y="0"/>
            <a:ext cx="52701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41436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DM Sans"/>
              <a:buNone/>
              <a:defRPr sz="7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14215"/>
          <a:stretch/>
        </p:blipFill>
        <p:spPr>
          <a:xfrm>
            <a:off x="18063875" y="9357375"/>
            <a:ext cx="1922677" cy="1649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BLANK_1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14215"/>
          <a:stretch/>
        </p:blipFill>
        <p:spPr>
          <a:xfrm>
            <a:off x="18063875" y="9357375"/>
            <a:ext cx="1922677" cy="164937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/>
          <p:nvPr/>
        </p:nvSpPr>
        <p:spPr>
          <a:xfrm>
            <a:off x="1312825" y="0"/>
            <a:ext cx="190050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1718775" y="3743250"/>
            <a:ext cx="78135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DM Sans"/>
              <a:buNone/>
              <a:defRPr sz="9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598" y="961253"/>
            <a:ext cx="18932700" cy="12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598" y="2489344"/>
            <a:ext cx="18932700" cy="73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>
            <a:lvl1pPr marL="457200" lvl="0" indent="-482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  <a:defRPr sz="4000">
                <a:solidFill>
                  <a:schemeClr val="dk2"/>
                </a:solidFill>
              </a:defRPr>
            </a:lvl1pPr>
            <a:lvl2pPr marL="914400" lvl="1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○"/>
              <a:defRPr sz="3100">
                <a:solidFill>
                  <a:schemeClr val="dk2"/>
                </a:solidFill>
              </a:defRPr>
            </a:lvl2pPr>
            <a:lvl3pPr marL="1371600" lvl="2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■"/>
              <a:defRPr sz="3100">
                <a:solidFill>
                  <a:schemeClr val="dk2"/>
                </a:solidFill>
              </a:defRPr>
            </a:lvl3pPr>
            <a:lvl4pPr marL="1828800" lvl="3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  <a:defRPr sz="3100">
                <a:solidFill>
                  <a:schemeClr val="dk2"/>
                </a:solidFill>
              </a:defRPr>
            </a:lvl4pPr>
            <a:lvl5pPr marL="2286000" lvl="4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○"/>
              <a:defRPr sz="3100">
                <a:solidFill>
                  <a:schemeClr val="dk2"/>
                </a:solidFill>
              </a:defRPr>
            </a:lvl5pPr>
            <a:lvl6pPr marL="2743200" lvl="5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■"/>
              <a:defRPr sz="3100">
                <a:solidFill>
                  <a:schemeClr val="dk2"/>
                </a:solidFill>
              </a:defRPr>
            </a:lvl6pPr>
            <a:lvl7pPr marL="3200400" lvl="6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  <a:defRPr sz="3100">
                <a:solidFill>
                  <a:schemeClr val="dk2"/>
                </a:solidFill>
              </a:defRPr>
            </a:lvl7pPr>
            <a:lvl8pPr marL="3657600" lvl="7" indent="-42545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dk2"/>
              </a:buClr>
              <a:buSzPts val="3100"/>
              <a:buChar char="○"/>
              <a:defRPr sz="3100">
                <a:solidFill>
                  <a:schemeClr val="dk2"/>
                </a:solidFill>
              </a:defRPr>
            </a:lvl8pPr>
            <a:lvl9pPr marL="4114800" lvl="8" indent="-425450">
              <a:lnSpc>
                <a:spcPct val="115000"/>
              </a:lnSpc>
              <a:spcBef>
                <a:spcPts val="3500"/>
              </a:spcBef>
              <a:spcAft>
                <a:spcPts val="3500"/>
              </a:spcAft>
              <a:buClr>
                <a:schemeClr val="dk2"/>
              </a:buClr>
              <a:buSzPts val="3100"/>
              <a:buChar char="■"/>
              <a:defRPr sz="3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8825808" y="10072539"/>
            <a:ext cx="12192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>
            <a:lvl1pPr lvl="0" algn="r">
              <a:buNone/>
              <a:defRPr sz="2200">
                <a:solidFill>
                  <a:schemeClr val="dk2"/>
                </a:solidFill>
              </a:defRPr>
            </a:lvl1pPr>
            <a:lvl2pPr lvl="1" algn="r">
              <a:buNone/>
              <a:defRPr sz="2200">
                <a:solidFill>
                  <a:schemeClr val="dk2"/>
                </a:solidFill>
              </a:defRPr>
            </a:lvl2pPr>
            <a:lvl3pPr lvl="2" algn="r">
              <a:buNone/>
              <a:defRPr sz="2200">
                <a:solidFill>
                  <a:schemeClr val="dk2"/>
                </a:solidFill>
              </a:defRPr>
            </a:lvl3pPr>
            <a:lvl4pPr lvl="3" algn="r">
              <a:buNone/>
              <a:defRPr sz="2200">
                <a:solidFill>
                  <a:schemeClr val="dk2"/>
                </a:solidFill>
              </a:defRPr>
            </a:lvl4pPr>
            <a:lvl5pPr lvl="4" algn="r">
              <a:buNone/>
              <a:defRPr sz="2200">
                <a:solidFill>
                  <a:schemeClr val="dk2"/>
                </a:solidFill>
              </a:defRPr>
            </a:lvl5pPr>
            <a:lvl6pPr lvl="5" algn="r">
              <a:buNone/>
              <a:defRPr sz="2200">
                <a:solidFill>
                  <a:schemeClr val="dk2"/>
                </a:solidFill>
              </a:defRPr>
            </a:lvl6pPr>
            <a:lvl7pPr lvl="6" algn="r">
              <a:buNone/>
              <a:defRPr sz="2200">
                <a:solidFill>
                  <a:schemeClr val="dk2"/>
                </a:solidFill>
              </a:defRPr>
            </a:lvl7pPr>
            <a:lvl8pPr lvl="7" algn="r">
              <a:buNone/>
              <a:defRPr sz="2200">
                <a:solidFill>
                  <a:schemeClr val="dk2"/>
                </a:solidFill>
              </a:defRPr>
            </a:lvl8pPr>
            <a:lvl9pPr lvl="8" algn="r">
              <a:buNone/>
              <a:defRPr sz="2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11626275" y="0"/>
            <a:ext cx="86916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8267225" y="1855350"/>
            <a:ext cx="10308300" cy="73992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50" y="7843775"/>
            <a:ext cx="2025075" cy="20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 rotWithShape="1">
          <a:blip r:embed="rId4">
            <a:alphaModFix/>
          </a:blip>
          <a:srcRect t="16044"/>
          <a:stretch/>
        </p:blipFill>
        <p:spPr>
          <a:xfrm>
            <a:off x="8267225" y="2449422"/>
            <a:ext cx="10308298" cy="621110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92600" y="3332075"/>
            <a:ext cx="10708200" cy="45117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00"/>
              <a:t>Calla &amp; Ivy: Fall Promo Campaign Results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3879275" y="5433600"/>
            <a:ext cx="135948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/>
          </a:p>
        </p:txBody>
      </p:sp>
      <p:cxnSp>
        <p:nvCxnSpPr>
          <p:cNvPr id="56" name="Google Shape;56;p10"/>
          <p:cNvCxnSpPr/>
          <p:nvPr/>
        </p:nvCxnSpPr>
        <p:spPr>
          <a:xfrm>
            <a:off x="6600419" y="5121311"/>
            <a:ext cx="0" cy="1922700"/>
          </a:xfrm>
          <a:prstGeom prst="straightConnector1">
            <a:avLst/>
          </a:prstGeom>
          <a:noFill/>
          <a:ln w="38100" cap="flat" cmpd="sng">
            <a:solidFill>
              <a:srgbClr val="21A8B0"/>
            </a:solidFill>
            <a:prstDash val="solid"/>
            <a:round/>
            <a:headEnd type="none" w="sm" len="sm"/>
            <a:tailEnd type="oval" w="sm" len="sm"/>
          </a:ln>
        </p:spPr>
      </p:cxnSp>
      <p:sp>
        <p:nvSpPr>
          <p:cNvPr id="57" name="Google Shape;57;p10"/>
          <p:cNvSpPr txBox="1"/>
          <p:nvPr/>
        </p:nvSpPr>
        <p:spPr>
          <a:xfrm>
            <a:off x="7092925" y="4364300"/>
            <a:ext cx="11686200" cy="24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3B336E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Campaign Objective:</a:t>
            </a:r>
            <a:endParaRPr sz="3600" b="1">
              <a:solidFill>
                <a:srgbClr val="3B336E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highlight>
                  <a:srgbClr val="FFFFFF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Generate  high-volume traffic to the new e-commerce website to drive brand awareness and direct sales.</a:t>
            </a:r>
            <a:endParaRPr sz="3600">
              <a:highlight>
                <a:srgbClr val="FFFFFF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7220775" y="7044011"/>
            <a:ext cx="6324600" cy="19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3B336E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KPI:</a:t>
            </a:r>
            <a:endParaRPr sz="3600" b="1" dirty="0">
              <a:solidFill>
                <a:srgbClr val="3B336E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 dirty="0">
                <a:highlight>
                  <a:srgbClr val="FFFFFF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Link Clicks</a:t>
            </a:r>
            <a:endParaRPr sz="3600" dirty="0">
              <a:highlight>
                <a:srgbClr val="FFFFFF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 dirty="0">
                <a:highlight>
                  <a:srgbClr val="FFFFFF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CTR (Click-Through Rate)</a:t>
            </a:r>
            <a:endParaRPr sz="3600" dirty="0">
              <a:highlight>
                <a:srgbClr val="FFFFFF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59" name="Google Shape;59;p10"/>
          <p:cNvCxnSpPr/>
          <p:nvPr/>
        </p:nvCxnSpPr>
        <p:spPr>
          <a:xfrm>
            <a:off x="6600419" y="3198611"/>
            <a:ext cx="0" cy="1922700"/>
          </a:xfrm>
          <a:prstGeom prst="straightConnector1">
            <a:avLst/>
          </a:prstGeom>
          <a:noFill/>
          <a:ln w="38100" cap="flat" cmpd="sng">
            <a:solidFill>
              <a:srgbClr val="21A8B0"/>
            </a:solidFill>
            <a:prstDash val="solid"/>
            <a:round/>
            <a:headEnd type="none" w="sm" len="sm"/>
            <a:tailEnd type="oval" w="sm" len="sm"/>
          </a:ln>
        </p:spPr>
      </p:cxnSp>
      <p:grpSp>
        <p:nvGrpSpPr>
          <p:cNvPr id="60" name="Google Shape;60;p10"/>
          <p:cNvGrpSpPr/>
          <p:nvPr/>
        </p:nvGrpSpPr>
        <p:grpSpPr>
          <a:xfrm>
            <a:off x="3279975" y="1481575"/>
            <a:ext cx="13758025" cy="2153725"/>
            <a:chOff x="3279975" y="1481575"/>
            <a:chExt cx="13758025" cy="2153725"/>
          </a:xfrm>
        </p:grpSpPr>
        <p:sp>
          <p:nvSpPr>
            <p:cNvPr id="61" name="Google Shape;61;p10"/>
            <p:cNvSpPr/>
            <p:nvPr/>
          </p:nvSpPr>
          <p:spPr>
            <a:xfrm>
              <a:off x="4855000" y="1481600"/>
              <a:ext cx="12183000" cy="2153700"/>
            </a:xfrm>
            <a:prstGeom prst="roundRect">
              <a:avLst>
                <a:gd name="adj" fmla="val 10577"/>
              </a:avLst>
            </a:prstGeom>
            <a:solidFill>
              <a:srgbClr val="69B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3279975" y="1481600"/>
              <a:ext cx="3940800" cy="2153700"/>
            </a:xfrm>
            <a:prstGeom prst="roundRect">
              <a:avLst>
                <a:gd name="adj" fmla="val 10577"/>
              </a:avLst>
            </a:prstGeom>
            <a:solidFill>
              <a:srgbClr val="21A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6613925" y="1481575"/>
              <a:ext cx="2244900" cy="2153700"/>
            </a:xfrm>
            <a:prstGeom prst="roundRect">
              <a:avLst>
                <a:gd name="adj" fmla="val 0"/>
              </a:avLst>
            </a:prstGeom>
            <a:solidFill>
              <a:srgbClr val="69B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10"/>
          <p:cNvSpPr txBox="1"/>
          <p:nvPr/>
        </p:nvSpPr>
        <p:spPr>
          <a:xfrm>
            <a:off x="6926450" y="1563050"/>
            <a:ext cx="9943200" cy="19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Increase online sales of the fall bouquet collection by </a:t>
            </a:r>
            <a:r>
              <a:rPr lang="en" sz="43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10% by the end of Q1.</a:t>
            </a:r>
            <a:endParaRPr sz="43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3780100" y="1503800"/>
            <a:ext cx="2394000" cy="19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  <a:endParaRPr sz="72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13396000" y="2068413"/>
            <a:ext cx="4755300" cy="73920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85215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Creative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Assets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7250" y="1019150"/>
            <a:ext cx="9494049" cy="860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/>
        </p:nvSpPr>
        <p:spPr>
          <a:xfrm>
            <a:off x="6763588" y="6430425"/>
            <a:ext cx="679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</a:rPr>
              <a:t>Ad A - Free Shipping Offer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13527175" y="6430425"/>
            <a:ext cx="679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</a:rPr>
              <a:t>Ad B - 10% Discount Offer</a:t>
            </a:r>
            <a:endParaRPr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60096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Campaign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8444875" y="481150"/>
            <a:ext cx="10291500" cy="10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499FA4"/>
                </a:solidFill>
                <a:highlight>
                  <a:schemeClr val="lt1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Objective:</a:t>
            </a:r>
            <a:endParaRPr sz="3600">
              <a:solidFill>
                <a:srgbClr val="499FA4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Traffic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u="sng">
              <a:solidFill>
                <a:srgbClr val="677B8C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499FA4"/>
                </a:solidFill>
                <a:highlight>
                  <a:schemeClr val="lt1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Audience:</a:t>
            </a:r>
            <a:endParaRPr sz="3600">
              <a:solidFill>
                <a:srgbClr val="499FA4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DM Sans"/>
              <a:buChar char="●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Women ages 24 - 55.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DM Sans"/>
              <a:buChar char="●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Interested in cut flowers.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DM Sans"/>
              <a:buChar char="●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Located in the Northern Holland region.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>
              <a:solidFill>
                <a:srgbClr val="677B8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499FA4"/>
                </a:solidFill>
                <a:highlight>
                  <a:schemeClr val="lt1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Placement:</a:t>
            </a:r>
            <a:endParaRPr sz="3600">
              <a:solidFill>
                <a:srgbClr val="499FA4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Facebook, Instagram, and the Audience Network.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>
              <a:solidFill>
                <a:srgbClr val="677B8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499FA4"/>
                </a:solidFill>
                <a:highlight>
                  <a:schemeClr val="lt1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Duration:</a:t>
            </a:r>
            <a:endParaRPr sz="3600">
              <a:solidFill>
                <a:srgbClr val="499FA4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Nov. 7 - Nov. 11.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>
              <a:solidFill>
                <a:srgbClr val="499FA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499FA4"/>
                </a:solidFill>
                <a:highlight>
                  <a:schemeClr val="lt1"/>
                </a:highlight>
                <a:latin typeface="DM Sans Medium"/>
                <a:ea typeface="DM Sans Medium"/>
                <a:cs typeface="DM Sans Medium"/>
                <a:sym typeface="DM Sans Medium"/>
              </a:rPr>
              <a:t>Budget: </a:t>
            </a:r>
            <a:endParaRPr sz="3600">
              <a:solidFill>
                <a:srgbClr val="499FA4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$2,824.50.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21A8B0"/>
              </a:solidFill>
              <a:highlight>
                <a:schemeClr val="lt1"/>
              </a:highlight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41436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564850" y="4415900"/>
            <a:ext cx="12053400" cy="690300"/>
          </a:xfrm>
          <a:prstGeom prst="roundRect">
            <a:avLst>
              <a:gd name="adj" fmla="val 50000"/>
            </a:avLst>
          </a:prstGeom>
          <a:solidFill>
            <a:srgbClr val="69BC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09866" y="889475"/>
            <a:ext cx="6904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1A8B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Campaign Result</a:t>
            </a:r>
            <a:endParaRPr sz="4400">
              <a:solidFill>
                <a:srgbClr val="21A8B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Total Link Clicks: 40,350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Average CTR: 1.2%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Average CPC: $0.07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517525" y="889475"/>
            <a:ext cx="61308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1A8B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Campaign Cost</a:t>
            </a:r>
            <a:endParaRPr sz="4400">
              <a:solidFill>
                <a:srgbClr val="21A8B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Total Ad Spend: $2,824.50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70975" y="4504475"/>
            <a:ext cx="6347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ROAS: 11.43x</a:t>
            </a:r>
            <a:endParaRPr sz="30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564850" y="8371600"/>
            <a:ext cx="12053400" cy="690300"/>
          </a:xfrm>
          <a:prstGeom prst="roundRect">
            <a:avLst>
              <a:gd name="adj" fmla="val 50000"/>
            </a:avLst>
          </a:prstGeom>
          <a:solidFill>
            <a:srgbClr val="21A8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370975" y="8663151"/>
            <a:ext cx="63474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ROI: 116%</a:t>
            </a:r>
            <a:endParaRPr sz="3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613016" y="5192675"/>
            <a:ext cx="6904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1A8B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Revenue</a:t>
            </a:r>
            <a:endParaRPr sz="4400">
              <a:solidFill>
                <a:srgbClr val="21A8B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$32,280.00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2988401" y="5192663"/>
            <a:ext cx="75003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1A8B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Total Investment</a:t>
            </a:r>
            <a:endParaRPr sz="4400">
              <a:solidFill>
                <a:srgbClr val="21A8B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Advertising: $2,824.50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Cost of Goods (COG): $12,105.00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DM Sans"/>
              <a:buChar char="●"/>
            </a:pPr>
            <a:r>
              <a:rPr lang="en" sz="3200">
                <a:latin typeface="DM Sans"/>
                <a:ea typeface="DM Sans"/>
                <a:cs typeface="DM Sans"/>
                <a:sym typeface="DM Sans"/>
              </a:rPr>
              <a:t>Total Investment: $14,929.50</a:t>
            </a:r>
            <a:endParaRPr sz="3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14695900" y="2857875"/>
            <a:ext cx="6276000" cy="6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Char char="●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" sz="3400">
                <a:latin typeface="DM Sans"/>
                <a:ea typeface="DM Sans"/>
                <a:cs typeface="DM Sans"/>
                <a:sym typeface="DM Sans"/>
              </a:rPr>
              <a:t>ree Shipping (Winner): </a:t>
            </a:r>
            <a:endParaRPr sz="34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44500" algn="l" rtl="0">
              <a:spcBef>
                <a:spcPts val="0"/>
              </a:spcBef>
              <a:spcAft>
                <a:spcPts val="0"/>
              </a:spcAft>
              <a:buSzPts val="3400"/>
              <a:buFont typeface="DM Sans"/>
              <a:buChar char="○"/>
            </a:pPr>
            <a:r>
              <a:rPr lang="en" sz="3400">
                <a:latin typeface="DM Sans"/>
                <a:ea typeface="DM Sans"/>
                <a:cs typeface="DM Sans"/>
                <a:sym typeface="DM Sans"/>
              </a:rPr>
              <a:t>  38,780 Link clicks</a:t>
            </a:r>
            <a:endParaRPr sz="34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44500" algn="l" rtl="0">
              <a:spcBef>
                <a:spcPts val="0"/>
              </a:spcBef>
              <a:spcAft>
                <a:spcPts val="0"/>
              </a:spcAft>
              <a:buSzPts val="3400"/>
              <a:buFont typeface="DM Sans"/>
              <a:buChar char="○"/>
            </a:pPr>
            <a:r>
              <a:rPr lang="en" sz="3400">
                <a:latin typeface="DM Sans"/>
                <a:ea typeface="DM Sans"/>
                <a:cs typeface="DM Sans"/>
                <a:sym typeface="DM Sans"/>
              </a:rPr>
              <a:t>  1.4% CTR</a:t>
            </a:r>
            <a:endParaRPr sz="34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44500" algn="l" rtl="0">
              <a:spcBef>
                <a:spcPts val="0"/>
              </a:spcBef>
              <a:spcAft>
                <a:spcPts val="0"/>
              </a:spcAft>
              <a:buSzPts val="3400"/>
              <a:buFont typeface="DM Sans"/>
              <a:buChar char="○"/>
            </a:pPr>
            <a:r>
              <a:rPr lang="en" sz="3400">
                <a:latin typeface="DM Sans"/>
                <a:ea typeface="DM Sans"/>
                <a:cs typeface="DM Sans"/>
                <a:sym typeface="DM Sans"/>
              </a:rPr>
              <a:t>  $0.05 CPC</a:t>
            </a:r>
            <a:endParaRPr sz="34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Char char="●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10% Off: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Char char="○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1,570 Link clicks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Char char="○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0.31% CTR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SzPts val="3600"/>
              <a:buFont typeface="DM Sans"/>
              <a:buChar char="○"/>
            </a:pPr>
            <a:r>
              <a:rPr lang="en" sz="3600">
                <a:latin typeface="DM Sans"/>
                <a:ea typeface="DM Sans"/>
                <a:cs typeface="DM Sans"/>
                <a:sym typeface="DM Sans"/>
              </a:rPr>
              <a:t>$0.48 CPC</a:t>
            </a:r>
            <a:endParaRPr sz="3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0005388" y="2098175"/>
            <a:ext cx="4755300" cy="7425300"/>
          </a:xfrm>
          <a:prstGeom prst="rect">
            <a:avLst/>
          </a:prstGeom>
          <a:noFill/>
          <a:ln w="114300" cap="flat" cmpd="sng">
            <a:solidFill>
              <a:srgbClr val="FFDE00"/>
            </a:solidFill>
            <a:prstDash val="solid"/>
            <a:round/>
            <a:headEnd type="none" w="sm" len="sm"/>
            <a:tailEnd type="none" w="sm" len="sm"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070188" y="2116325"/>
            <a:ext cx="4625700" cy="73890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14215"/>
          <a:stretch/>
        </p:blipFill>
        <p:spPr>
          <a:xfrm>
            <a:off x="18063875" y="9357375"/>
            <a:ext cx="1922677" cy="164937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055725" y="2675700"/>
            <a:ext cx="3900900" cy="5758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60096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r="51939"/>
          <a:stretch/>
        </p:blipFill>
        <p:spPr>
          <a:xfrm>
            <a:off x="9647888" y="611604"/>
            <a:ext cx="5240163" cy="9886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l="51637"/>
          <a:stretch/>
        </p:blipFill>
        <p:spPr>
          <a:xfrm>
            <a:off x="4979250" y="1793200"/>
            <a:ext cx="4285801" cy="803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8064500" y="99625"/>
            <a:ext cx="11590800" cy="109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>
                <a:latin typeface="DM Sans Medium"/>
                <a:ea typeface="DM Sans Medium"/>
                <a:cs typeface="DM Sans Medium"/>
                <a:sym typeface="DM Sans Medium"/>
              </a:rPr>
              <a:t>Goal Met: Achieved 40,350 link clicks, delivering a high 11.43x ROAS and 116% ROI.</a:t>
            </a:r>
            <a:endParaRPr sz="36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>
                <a:latin typeface="DM Sans Medium"/>
                <a:ea typeface="DM Sans Medium"/>
                <a:cs typeface="DM Sans Medium"/>
                <a:sym typeface="DM Sans Medium"/>
              </a:rPr>
              <a:t>Key Insight: Free Shipping was the clear winner, driving 24x more traffic at a lower $0.05 CPC than the 10% discount.</a:t>
            </a:r>
            <a:endParaRPr sz="36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>
                <a:latin typeface="DM Sans Medium"/>
                <a:ea typeface="DM Sans Medium"/>
                <a:cs typeface="DM Sans Medium"/>
                <a:sym typeface="DM Sans Medium"/>
              </a:rPr>
              <a:t>Scale Winner: Increase daily budget for Free Shipping ads by 20% to maximize sales volume.</a:t>
            </a:r>
            <a:endParaRPr sz="36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>
                <a:latin typeface="DM Sans Medium"/>
                <a:ea typeface="DM Sans Medium"/>
                <a:cs typeface="DM Sans Medium"/>
                <a:sym typeface="DM Sans Medium"/>
              </a:rPr>
              <a:t>Test Video: Launch a short-form video ad to see if it can further improve the current 1.4% CTR.</a:t>
            </a:r>
            <a:endParaRPr sz="3600"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DM Sans Medium"/>
              <a:buChar char="●"/>
            </a:pPr>
            <a:r>
              <a:rPr lang="en" sz="3600">
                <a:latin typeface="DM Sans Medium"/>
                <a:ea typeface="DM Sans Medium"/>
                <a:cs typeface="DM Sans Medium"/>
                <a:sym typeface="DM Sans Medium"/>
              </a:rPr>
              <a:t>Retargeting: Create a retargeting campaign for the 40,000+ users who clicked but did not purchase.</a:t>
            </a:r>
            <a:endParaRPr sz="36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692600" y="3743250"/>
            <a:ext cx="63522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Conclusion </a:t>
            </a:r>
            <a:b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&amp; Next Steps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1312825" y="0"/>
            <a:ext cx="19005000" cy="11109900"/>
          </a:xfrm>
          <a:prstGeom prst="rect">
            <a:avLst/>
          </a:prstGeom>
          <a:solidFill>
            <a:srgbClr val="69BCC1"/>
          </a:solidFill>
          <a:ln>
            <a:noFill/>
          </a:ln>
        </p:spPr>
        <p:txBody>
          <a:bodyPr spcFirstLastPara="1" wrap="square" lIns="201250" tIns="100600" rIns="201250" bIns="10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3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9325" y="8493800"/>
            <a:ext cx="1301403" cy="8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548625" y="1962200"/>
            <a:ext cx="10308300" cy="73992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1714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11718775" y="3743250"/>
            <a:ext cx="7813500" cy="3623400"/>
          </a:xfrm>
          <a:prstGeom prst="rect">
            <a:avLst/>
          </a:prstGeom>
        </p:spPr>
        <p:txBody>
          <a:bodyPr spcFirstLastPara="1" wrap="square" lIns="201250" tIns="201250" rIns="201250" bIns="2012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" sz="8000"/>
              <a:t>Thank</a:t>
            </a:r>
            <a:endParaRPr sz="8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You!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6550" y="4272925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0638" y="0"/>
            <a:ext cx="6670174" cy="667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315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DM Sans Medium</vt:lpstr>
      <vt:lpstr>Montserrat Medium</vt:lpstr>
      <vt:lpstr>Arial</vt:lpstr>
      <vt:lpstr>DM Sans</vt:lpstr>
      <vt:lpstr>Simple Light</vt:lpstr>
      <vt:lpstr>Calla &amp; Ivy: Fall Promo Campaign Results</vt:lpstr>
      <vt:lpstr>PowerPoint Presentation</vt:lpstr>
      <vt:lpstr>Creative Assets</vt:lpstr>
      <vt:lpstr>Campaign Settings</vt:lpstr>
      <vt:lpstr>Results</vt:lpstr>
      <vt:lpstr>Results</vt:lpstr>
      <vt:lpstr>Conclusion  &amp;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 Diaz</dc:creator>
  <cp:lastModifiedBy>Eve Diaz</cp:lastModifiedBy>
  <cp:revision>2</cp:revision>
  <dcterms:modified xsi:type="dcterms:W3CDTF">2026-05-09T05:19:41Z</dcterms:modified>
</cp:coreProperties>
</file>